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jgF1+kowoabNT5hCCe273/UMfx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dc5d66892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dc5d66892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dc5d66892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sites.google.com/ferreyros.com.pe/sispro/indicadores/log%C3%ADstica-almac%C3%A9n-y-rt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dc5d66892_0_20"/>
          <p:cNvSpPr/>
          <p:nvPr/>
        </p:nvSpPr>
        <p:spPr>
          <a:xfrm>
            <a:off x="0" y="0"/>
            <a:ext cx="4023300" cy="68580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ddc5d66892_0_20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ddc5d66892_0_20"/>
          <p:cNvSpPr/>
          <p:nvPr/>
        </p:nvSpPr>
        <p:spPr>
          <a:xfrm>
            <a:off x="292608" y="3002180"/>
            <a:ext cx="1645800" cy="549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ddc5d66892_0_20"/>
          <p:cNvSpPr/>
          <p:nvPr/>
        </p:nvSpPr>
        <p:spPr>
          <a:xfrm>
            <a:off x="292608" y="3166772"/>
            <a:ext cx="3566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GERENCIA RESPONSABLE</a:t>
            </a:r>
            <a:endParaRPr b="0" i="0" sz="9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ddc5d66892_0_20"/>
          <p:cNvSpPr/>
          <p:nvPr/>
        </p:nvSpPr>
        <p:spPr>
          <a:xfrm>
            <a:off x="292608" y="3843428"/>
            <a:ext cx="3566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9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ddc5d66892_0_20"/>
          <p:cNvSpPr/>
          <p:nvPr/>
        </p:nvSpPr>
        <p:spPr>
          <a:xfrm>
            <a:off x="0" y="6400800"/>
            <a:ext cx="4023300" cy="4572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ddc5d66892_0_20"/>
          <p:cNvSpPr/>
          <p:nvPr/>
        </p:nvSpPr>
        <p:spPr>
          <a:xfrm>
            <a:off x="4302290" y="5982720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Observación: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g3ddc5d66892_0_20"/>
          <p:cNvCxnSpPr/>
          <p:nvPr/>
        </p:nvCxnSpPr>
        <p:spPr>
          <a:xfrm>
            <a:off x="6917472" y="1608845"/>
            <a:ext cx="2359200" cy="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g3ddc5d66892_0_20"/>
          <p:cNvSpPr/>
          <p:nvPr/>
        </p:nvSpPr>
        <p:spPr>
          <a:xfrm>
            <a:off x="10515647" y="2666519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Logística y Abastecimiento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ddc5d66892_0_20"/>
          <p:cNvSpPr/>
          <p:nvPr/>
        </p:nvSpPr>
        <p:spPr>
          <a:xfrm>
            <a:off x="4174275" y="1235075"/>
            <a:ext cx="2338800" cy="529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ddc5d66892_0_20"/>
          <p:cNvSpPr/>
          <p:nvPr/>
        </p:nvSpPr>
        <p:spPr>
          <a:xfrm>
            <a:off x="4174275" y="1235156"/>
            <a:ext cx="23388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ddc5d66892_0_20"/>
          <p:cNvSpPr/>
          <p:nvPr/>
        </p:nvSpPr>
        <p:spPr>
          <a:xfrm>
            <a:off x="4174275" y="1235156"/>
            <a:ext cx="54900" cy="3516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ddc5d66892_0_20"/>
          <p:cNvSpPr/>
          <p:nvPr/>
        </p:nvSpPr>
        <p:spPr>
          <a:xfrm>
            <a:off x="4289677" y="1269914"/>
            <a:ext cx="21558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FUENTES DE DATOS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ddc5d66892_0_20"/>
          <p:cNvSpPr/>
          <p:nvPr/>
        </p:nvSpPr>
        <p:spPr>
          <a:xfrm>
            <a:off x="6622675" y="1235075"/>
            <a:ext cx="2999700" cy="529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ddc5d66892_0_20"/>
          <p:cNvSpPr/>
          <p:nvPr/>
        </p:nvSpPr>
        <p:spPr>
          <a:xfrm>
            <a:off x="6622673" y="1235156"/>
            <a:ext cx="29997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ddc5d66892_0_20"/>
          <p:cNvSpPr/>
          <p:nvPr/>
        </p:nvSpPr>
        <p:spPr>
          <a:xfrm>
            <a:off x="6622673" y="1235009"/>
            <a:ext cx="54900" cy="3516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ddc5d66892_0_20"/>
          <p:cNvSpPr/>
          <p:nvPr/>
        </p:nvSpPr>
        <p:spPr>
          <a:xfrm>
            <a:off x="6735247" y="1270063"/>
            <a:ext cx="2816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INDICADORES (KPIs)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ddc5d66892_0_20"/>
          <p:cNvSpPr/>
          <p:nvPr/>
        </p:nvSpPr>
        <p:spPr>
          <a:xfrm>
            <a:off x="9732000" y="1235000"/>
            <a:ext cx="2287800" cy="529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ddc5d66892_0_20"/>
          <p:cNvSpPr/>
          <p:nvPr/>
        </p:nvSpPr>
        <p:spPr>
          <a:xfrm>
            <a:off x="9731996" y="1235155"/>
            <a:ext cx="22878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ddc5d66892_0_20"/>
          <p:cNvSpPr/>
          <p:nvPr/>
        </p:nvSpPr>
        <p:spPr>
          <a:xfrm>
            <a:off x="9731996" y="1235156"/>
            <a:ext cx="54900" cy="3516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ddc5d66892_0_20"/>
          <p:cNvSpPr/>
          <p:nvPr/>
        </p:nvSpPr>
        <p:spPr>
          <a:xfrm>
            <a:off x="9841721" y="1269914"/>
            <a:ext cx="21048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CONTACTOS Y ACCESOS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ddc5d66892_0_20"/>
          <p:cNvSpPr/>
          <p:nvPr/>
        </p:nvSpPr>
        <p:spPr>
          <a:xfrm>
            <a:off x="9837162" y="1752119"/>
            <a:ext cx="2104800" cy="5121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ddc5d66892_0_20"/>
          <p:cNvSpPr/>
          <p:nvPr/>
        </p:nvSpPr>
        <p:spPr>
          <a:xfrm>
            <a:off x="9910314" y="1788695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680"/>
              <a:buFont typeface="Calibri"/>
              <a:buNone/>
            </a:pPr>
            <a:r>
              <a:rPr b="1" i="0" lang="en-US" sz="68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ddc5d66892_0_20"/>
          <p:cNvSpPr/>
          <p:nvPr/>
        </p:nvSpPr>
        <p:spPr>
          <a:xfrm>
            <a:off x="9837162" y="2319047"/>
            <a:ext cx="2104800" cy="512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ddc5d66892_0_20"/>
          <p:cNvSpPr/>
          <p:nvPr/>
        </p:nvSpPr>
        <p:spPr>
          <a:xfrm>
            <a:off x="9910314" y="2355623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Key User</a:t>
            </a:r>
            <a:endParaRPr b="1" sz="68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ddc5d66892_0_20"/>
          <p:cNvSpPr/>
          <p:nvPr/>
        </p:nvSpPr>
        <p:spPr>
          <a:xfrm>
            <a:off x="9837162" y="2885975"/>
            <a:ext cx="2104800" cy="5121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ddc5d66892_0_20"/>
          <p:cNvSpPr/>
          <p:nvPr/>
        </p:nvSpPr>
        <p:spPr>
          <a:xfrm>
            <a:off x="9910314" y="2922551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Desarrollador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ddc5d66892_0_20"/>
          <p:cNvSpPr/>
          <p:nvPr/>
        </p:nvSpPr>
        <p:spPr>
          <a:xfrm>
            <a:off x="9837162" y="3452903"/>
            <a:ext cx="2104800" cy="512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ddc5d66892_0_20"/>
          <p:cNvSpPr/>
          <p:nvPr/>
        </p:nvSpPr>
        <p:spPr>
          <a:xfrm>
            <a:off x="9910314" y="3489479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ddc5d66892_0_20"/>
          <p:cNvSpPr/>
          <p:nvPr/>
        </p:nvSpPr>
        <p:spPr>
          <a:xfrm>
            <a:off x="9837162" y="4111271"/>
            <a:ext cx="2104800" cy="2013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ddc5d66892_0_20"/>
          <p:cNvSpPr/>
          <p:nvPr/>
        </p:nvSpPr>
        <p:spPr>
          <a:xfrm>
            <a:off x="9924350" y="4138702"/>
            <a:ext cx="1944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APROBADOR PARA ACCESO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ddc5d66892_0_20"/>
          <p:cNvSpPr/>
          <p:nvPr/>
        </p:nvSpPr>
        <p:spPr>
          <a:xfrm>
            <a:off x="9837162" y="4349015"/>
            <a:ext cx="2104800" cy="567000"/>
          </a:xfrm>
          <a:prstGeom prst="rect">
            <a:avLst/>
          </a:prstGeom>
          <a:solidFill>
            <a:srgbClr val="FFFCE6"/>
          </a:solidFill>
          <a:ln cap="flat" cmpd="sng" w="9525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ddc5d66892_0_20"/>
          <p:cNvSpPr/>
          <p:nvPr/>
        </p:nvSpPr>
        <p:spPr>
          <a:xfrm>
            <a:off x="9837162" y="4349015"/>
            <a:ext cx="45600" cy="5670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ddc5d66892_0_20"/>
          <p:cNvSpPr/>
          <p:nvPr/>
        </p:nvSpPr>
        <p:spPr>
          <a:xfrm>
            <a:off x="4032450" y="6620125"/>
            <a:ext cx="8159700" cy="2376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ddc5d66892_0_20"/>
          <p:cNvSpPr/>
          <p:nvPr/>
        </p:nvSpPr>
        <p:spPr>
          <a:xfrm>
            <a:off x="4174275" y="6644750"/>
            <a:ext cx="5976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b="1"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Data Analytics</a:t>
            </a:r>
            <a:endParaRPr b="1" i="0" sz="900" u="none" cap="none" strike="noStrike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g3ddc5d66892_0_20"/>
          <p:cNvPicPr preferRelativeResize="0"/>
          <p:nvPr/>
        </p:nvPicPr>
        <p:blipFill rotWithShape="1">
          <a:blip r:embed="rId3">
            <a:alphaModFix/>
          </a:blip>
          <a:srcRect b="19459" l="0" r="0" t="0"/>
          <a:stretch/>
        </p:blipFill>
        <p:spPr>
          <a:xfrm>
            <a:off x="453263" y="349450"/>
            <a:ext cx="2155799" cy="5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g3ddc5d66892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7537" y="278475"/>
            <a:ext cx="663675" cy="67330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ddc5d66892_0_20"/>
          <p:cNvSpPr/>
          <p:nvPr/>
        </p:nvSpPr>
        <p:spPr>
          <a:xfrm>
            <a:off x="9837150" y="1753345"/>
            <a:ext cx="36600" cy="5121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ddc5d66892_0_20"/>
          <p:cNvSpPr/>
          <p:nvPr/>
        </p:nvSpPr>
        <p:spPr>
          <a:xfrm>
            <a:off x="9832850" y="2319658"/>
            <a:ext cx="36600" cy="512100"/>
          </a:xfrm>
          <a:prstGeom prst="rect">
            <a:avLst/>
          </a:prstGeom>
          <a:solidFill>
            <a:srgbClr val="C8C8C8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8C8C8"/>
              </a:solidFill>
            </a:endParaRPr>
          </a:p>
        </p:txBody>
      </p:sp>
      <p:sp>
        <p:nvSpPr>
          <p:cNvPr id="55" name="Google Shape;55;g3ddc5d66892_0_20"/>
          <p:cNvSpPr/>
          <p:nvPr/>
        </p:nvSpPr>
        <p:spPr>
          <a:xfrm>
            <a:off x="9832850" y="2885970"/>
            <a:ext cx="36600" cy="512100"/>
          </a:xfrm>
          <a:prstGeom prst="rect">
            <a:avLst/>
          </a:prstGeom>
          <a:solidFill>
            <a:srgbClr val="C8C8C8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8C8C8"/>
              </a:solidFill>
            </a:endParaRPr>
          </a:p>
        </p:txBody>
      </p:sp>
      <p:sp>
        <p:nvSpPr>
          <p:cNvPr id="56" name="Google Shape;56;g3ddc5d66892_0_20"/>
          <p:cNvSpPr/>
          <p:nvPr/>
        </p:nvSpPr>
        <p:spPr>
          <a:xfrm>
            <a:off x="9841650" y="3452295"/>
            <a:ext cx="36600" cy="512100"/>
          </a:xfrm>
          <a:prstGeom prst="rect">
            <a:avLst/>
          </a:prstGeom>
          <a:solidFill>
            <a:srgbClr val="C8C8C8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8C8C8"/>
              </a:solidFill>
            </a:endParaRPr>
          </a:p>
        </p:txBody>
      </p:sp>
      <p:sp>
        <p:nvSpPr>
          <p:cNvPr id="57" name="Google Shape;57;g3ddc5d66892_0_20"/>
          <p:cNvSpPr/>
          <p:nvPr/>
        </p:nvSpPr>
        <p:spPr>
          <a:xfrm>
            <a:off x="9832500" y="4111275"/>
            <a:ext cx="54900" cy="2013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ddc5d66892_0_20"/>
          <p:cNvSpPr/>
          <p:nvPr/>
        </p:nvSpPr>
        <p:spPr>
          <a:xfrm>
            <a:off x="6622675" y="226855"/>
            <a:ext cx="2999700" cy="87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ddc5d66892_0_20"/>
          <p:cNvSpPr/>
          <p:nvPr/>
        </p:nvSpPr>
        <p:spPr>
          <a:xfrm>
            <a:off x="9731950" y="208430"/>
            <a:ext cx="2287800" cy="897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ddc5d66892_0_20"/>
          <p:cNvSpPr/>
          <p:nvPr/>
        </p:nvSpPr>
        <p:spPr>
          <a:xfrm>
            <a:off x="4174275" y="218955"/>
            <a:ext cx="2338800" cy="87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ddc5d66892_0_20"/>
          <p:cNvSpPr/>
          <p:nvPr/>
        </p:nvSpPr>
        <p:spPr>
          <a:xfrm>
            <a:off x="6688600" y="227580"/>
            <a:ext cx="2933700" cy="1980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ddc5d66892_0_20"/>
          <p:cNvSpPr/>
          <p:nvPr/>
        </p:nvSpPr>
        <p:spPr>
          <a:xfrm>
            <a:off x="292633" y="4844715"/>
            <a:ext cx="3566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IR A LA SECCIÓN</a:t>
            </a:r>
            <a:endParaRPr b="0" i="0" sz="9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ddc5d66892_0_20"/>
          <p:cNvSpPr/>
          <p:nvPr/>
        </p:nvSpPr>
        <p:spPr>
          <a:xfrm>
            <a:off x="6622675" y="124747"/>
            <a:ext cx="29997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ddc5d66892_0_20"/>
          <p:cNvSpPr/>
          <p:nvPr/>
        </p:nvSpPr>
        <p:spPr>
          <a:xfrm>
            <a:off x="6746225" y="124105"/>
            <a:ext cx="28347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Calibri"/>
              <a:buNone/>
            </a:pPr>
            <a:r>
              <a:rPr b="1" i="0" lang="en-US" sz="105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NIVEL DE DETALLE</a:t>
            </a:r>
            <a:endParaRPr b="0" i="0" sz="1050" u="none" cap="none" strike="noStrike">
              <a:solidFill>
                <a:srgbClr val="FFCD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ddc5d66892_0_20"/>
          <p:cNvSpPr/>
          <p:nvPr/>
        </p:nvSpPr>
        <p:spPr>
          <a:xfrm>
            <a:off x="6622675" y="124105"/>
            <a:ext cx="66000" cy="9825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ddc5d66892_0_20"/>
          <p:cNvSpPr/>
          <p:nvPr/>
        </p:nvSpPr>
        <p:spPr>
          <a:xfrm>
            <a:off x="9719700" y="119305"/>
            <a:ext cx="23001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ddc5d66892_0_20"/>
          <p:cNvSpPr/>
          <p:nvPr/>
        </p:nvSpPr>
        <p:spPr>
          <a:xfrm>
            <a:off x="9841750" y="117205"/>
            <a:ext cx="21462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Calibri"/>
              <a:buNone/>
            </a:pPr>
            <a:r>
              <a:rPr b="1" lang="en-US" sz="1050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b="0" i="0" sz="1050" u="none" cap="none" strike="noStrike">
              <a:solidFill>
                <a:srgbClr val="FFCD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ddc5d66892_0_20"/>
          <p:cNvSpPr/>
          <p:nvPr/>
        </p:nvSpPr>
        <p:spPr>
          <a:xfrm>
            <a:off x="9719700" y="123830"/>
            <a:ext cx="78300" cy="9825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ddc5d66892_0_20"/>
          <p:cNvSpPr/>
          <p:nvPr/>
        </p:nvSpPr>
        <p:spPr>
          <a:xfrm>
            <a:off x="4186550" y="124755"/>
            <a:ext cx="23265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ddc5d66892_0_20"/>
          <p:cNvSpPr/>
          <p:nvPr/>
        </p:nvSpPr>
        <p:spPr>
          <a:xfrm>
            <a:off x="4289675" y="129330"/>
            <a:ext cx="22029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Calibri"/>
              <a:buNone/>
            </a:pPr>
            <a:r>
              <a:rPr b="1" i="0" lang="en-US" sz="105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FRECUENCIA DE ACTUALIZACIÓN</a:t>
            </a:r>
            <a:endParaRPr b="0" i="0" sz="1050" u="none" cap="none" strike="noStrike">
              <a:solidFill>
                <a:srgbClr val="FFCD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ddc5d66892_0_20"/>
          <p:cNvSpPr/>
          <p:nvPr/>
        </p:nvSpPr>
        <p:spPr>
          <a:xfrm>
            <a:off x="4174275" y="124755"/>
            <a:ext cx="54900" cy="9738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/>
          <p:nvPr/>
        </p:nvSpPr>
        <p:spPr>
          <a:xfrm>
            <a:off x="0" y="0"/>
            <a:ext cx="4023300" cy="68580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"/>
          <p:cNvSpPr/>
          <p:nvPr/>
        </p:nvSpPr>
        <p:spPr>
          <a:xfrm>
            <a:off x="292608" y="1481328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[Título del Proyecto]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292608" y="3002180"/>
            <a:ext cx="1645800" cy="549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292608" y="3166772"/>
            <a:ext cx="3566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GERENCIA RESPONSABLE</a:t>
            </a:r>
            <a:endParaRPr b="0" i="0" sz="9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292608" y="3349652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[Nombre de Gerencia]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292608" y="3843428"/>
            <a:ext cx="3566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9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292608" y="4044596"/>
            <a:ext cx="3566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50"/>
              <a:buFont typeface="Calibri"/>
              <a:buNone/>
            </a:pP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[Objetivo del Proyecto]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400800"/>
            <a:ext cx="4023360" cy="4572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292600" y="6410075"/>
            <a:ext cx="3657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Versión 1.0  ·  Última actualización: 15/04/2025 (07:00 am)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325165" y="2290034"/>
            <a:ext cx="123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Ventana sin datos: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302290" y="5982720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Observación: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"/>
          <p:cNvCxnSpPr/>
          <p:nvPr/>
        </p:nvCxnSpPr>
        <p:spPr>
          <a:xfrm>
            <a:off x="6917472" y="1608845"/>
            <a:ext cx="2359200" cy="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"/>
          <p:cNvSpPr/>
          <p:nvPr/>
        </p:nvSpPr>
        <p:spPr>
          <a:xfrm>
            <a:off x="6970100" y="2776260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🔗  Versión Táctica — Jefaturas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970100" y="4415783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🔗  Versión Operacional — Analistas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0515647" y="2666519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Logística y Abastecimiento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174275" y="1235075"/>
            <a:ext cx="2338800" cy="529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174275" y="1235156"/>
            <a:ext cx="23388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4174275" y="1235156"/>
            <a:ext cx="54900" cy="3516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4289677" y="1269914"/>
            <a:ext cx="21558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FUENTES DE DATOS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288589" y="1759682"/>
            <a:ext cx="2155800" cy="2196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4325173" y="1796252"/>
            <a:ext cx="608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Dominio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5027773" y="1796252"/>
            <a:ext cx="640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5804300" y="1768597"/>
            <a:ext cx="64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Fuente de Datos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4288589" y="1997426"/>
            <a:ext cx="21558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4325165" y="2125442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[Dominio 1]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5027773" y="2125452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[SAP CM/ SAP S/4 HANNA]</a:t>
            </a:r>
            <a:endParaRPr sz="8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5808611" y="2125442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[BigQuery / Google Sheets]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4288589" y="2454626"/>
            <a:ext cx="2155800" cy="4389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4325165" y="2582642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[Dominio 2]</a:t>
            </a:r>
            <a:endParaRPr b="1" sz="90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027775" y="2582652"/>
            <a:ext cx="663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[SAP CM/ SAP S/4 HANNA]</a:t>
            </a:r>
            <a:endParaRPr sz="8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5808600" y="2545477"/>
            <a:ext cx="66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[BigQuery / Google Sheets]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4288589" y="2911826"/>
            <a:ext cx="2155800" cy="4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4325165" y="3039842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[Dominio 3]</a:t>
            </a:r>
            <a:endParaRPr b="1" sz="90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5027775" y="3039852"/>
            <a:ext cx="573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[SAP CM/ SAP S/4 HANNA]</a:t>
            </a:r>
            <a:endParaRPr sz="8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5808600" y="3039852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[BigQuery / Google Sheets]</a:t>
            </a:r>
            <a:endParaRPr sz="8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6622675" y="1235075"/>
            <a:ext cx="2999700" cy="529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6622673" y="1235156"/>
            <a:ext cx="29997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6622673" y="1235009"/>
            <a:ext cx="54900" cy="3516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6735247" y="1270063"/>
            <a:ext cx="2816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INDICADORES (KPIs)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6730150" y="1752127"/>
            <a:ext cx="2834700" cy="118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9071391" y="1806996"/>
            <a:ext cx="384000" cy="2376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9034801" y="1805922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[Unidad]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6803313" y="1806996"/>
            <a:ext cx="2176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[Indicador 1]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6803313" y="2141787"/>
            <a:ext cx="272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[Descripción Indicador 1]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6803425" y="2462271"/>
            <a:ext cx="2670300" cy="329100"/>
          </a:xfrm>
          <a:prstGeom prst="rect">
            <a:avLst/>
          </a:prstGeom>
          <a:solidFill>
            <a:srgbClr val="FFCD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6905100" y="2480564"/>
            <a:ext cx="251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50"/>
              <a:buFont typeface="Consolas"/>
              <a:buNone/>
            </a:pPr>
            <a:r>
              <a:rPr lang="en-US" sz="7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[Fórmula Indicador 1]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6905100" y="2645147"/>
            <a:ext cx="2514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Ej: </a:t>
            </a:r>
            <a:r>
              <a:rPr i="1" lang="en-US" sz="7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[Ejemplo Indicador 1]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6730161" y="2997888"/>
            <a:ext cx="2834700" cy="11886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"/>
          <p:cNvSpPr/>
          <p:nvPr/>
        </p:nvSpPr>
        <p:spPr>
          <a:xfrm>
            <a:off x="9071391" y="3052752"/>
            <a:ext cx="384000" cy="2376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"/>
          <p:cNvSpPr/>
          <p:nvPr/>
        </p:nvSpPr>
        <p:spPr>
          <a:xfrm>
            <a:off x="9034800" y="3052752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[Unidad]</a:t>
            </a:r>
            <a:endParaRPr b="1" sz="90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6803313" y="3052752"/>
            <a:ext cx="2176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[Indicador 2]</a:t>
            </a:r>
            <a:endParaRPr b="1" sz="100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6803313" y="3308784"/>
            <a:ext cx="272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[Descripción Indicador 2]</a:t>
            </a:r>
            <a:endParaRPr sz="8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6803425" y="3689877"/>
            <a:ext cx="2670300" cy="329100"/>
          </a:xfrm>
          <a:prstGeom prst="rect">
            <a:avLst/>
          </a:prstGeom>
          <a:solidFill>
            <a:srgbClr val="FFCD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"/>
          <p:cNvSpPr/>
          <p:nvPr/>
        </p:nvSpPr>
        <p:spPr>
          <a:xfrm>
            <a:off x="6895739" y="3702308"/>
            <a:ext cx="256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50"/>
              <a:buFont typeface="Consolas"/>
              <a:buNone/>
            </a:pPr>
            <a:r>
              <a:rPr lang="en-US" sz="7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[Fórmula Indicador 2]</a:t>
            </a:r>
            <a:endParaRPr sz="7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6895739" y="3866900"/>
            <a:ext cx="25608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i="1" lang="en-US" sz="7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Ej: [Ejemplo Indicador 2]</a:t>
            </a:r>
            <a:endParaRPr i="1" sz="7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6730156" y="4263342"/>
            <a:ext cx="2834700" cy="118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9071391" y="4318205"/>
            <a:ext cx="384000" cy="2376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9034800" y="4318202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[Unidad]</a:t>
            </a:r>
            <a:endParaRPr b="1" sz="90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6803313" y="4318205"/>
            <a:ext cx="2176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[Indicador 3]</a:t>
            </a:r>
            <a:endParaRPr b="1" sz="100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6803313" y="4574237"/>
            <a:ext cx="272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[Descripción Indicador 3]</a:t>
            </a:r>
            <a:endParaRPr sz="8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6803425" y="4909906"/>
            <a:ext cx="2670300" cy="329100"/>
          </a:xfrm>
          <a:prstGeom prst="rect">
            <a:avLst/>
          </a:prstGeom>
          <a:solidFill>
            <a:srgbClr val="FFCD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"/>
          <p:cNvSpPr/>
          <p:nvPr/>
        </p:nvSpPr>
        <p:spPr>
          <a:xfrm>
            <a:off x="6895739" y="4922337"/>
            <a:ext cx="256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50"/>
              <a:buFont typeface="Consolas"/>
              <a:buNone/>
            </a:pPr>
            <a:r>
              <a:rPr lang="en-US" sz="7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[Fórmula Indicador 3]</a:t>
            </a:r>
            <a:endParaRPr sz="7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6895739" y="5086929"/>
            <a:ext cx="25608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i="1" lang="en-US" sz="7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Ej: [Ejemplo Indicador 3]</a:t>
            </a:r>
            <a:endParaRPr i="1" sz="7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9732000" y="1235000"/>
            <a:ext cx="2287800" cy="529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"/>
          <p:cNvSpPr/>
          <p:nvPr/>
        </p:nvSpPr>
        <p:spPr>
          <a:xfrm>
            <a:off x="9731996" y="1235155"/>
            <a:ext cx="22878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9731996" y="1235156"/>
            <a:ext cx="54900" cy="3516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9841721" y="1269914"/>
            <a:ext cx="21048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CONTACTOS Y ACCESOS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9837162" y="1752119"/>
            <a:ext cx="2104800" cy="5121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9910314" y="1788695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680"/>
              <a:buFont typeface="Calibri"/>
              <a:buNone/>
            </a:pPr>
            <a:r>
              <a:rPr b="1" i="0" lang="en-US" sz="68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9910314" y="1934999"/>
            <a:ext cx="195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[Nombre del Product Owner]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9910314" y="2108735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[Correo del Product Owner]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"/>
          <p:cNvSpPr/>
          <p:nvPr/>
        </p:nvSpPr>
        <p:spPr>
          <a:xfrm>
            <a:off x="9837162" y="2319047"/>
            <a:ext cx="2104800" cy="512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"/>
          <p:cNvSpPr/>
          <p:nvPr/>
        </p:nvSpPr>
        <p:spPr>
          <a:xfrm>
            <a:off x="9910314" y="2355623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Key User</a:t>
            </a:r>
            <a:endParaRPr b="1" sz="68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9910314" y="2501927"/>
            <a:ext cx="195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[Nombre del Key User]</a:t>
            </a:r>
            <a:endParaRPr b="1" sz="95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9910314" y="2675663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[Correo del Key User]</a:t>
            </a:r>
            <a:endParaRPr sz="75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9837162" y="2885975"/>
            <a:ext cx="2104800" cy="5121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9910314" y="2922551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Desarrollador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9910314" y="3068855"/>
            <a:ext cx="195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[Nombre del Desarrollador</a:t>
            </a:r>
            <a:endParaRPr b="1" sz="95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9910314" y="3242591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[Correo del Desarrollador]</a:t>
            </a:r>
            <a:endParaRPr sz="75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9837162" y="3452903"/>
            <a:ext cx="2104800" cy="512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9910314" y="3489479"/>
            <a:ext cx="1958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9910314" y="3635783"/>
            <a:ext cx="195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[Equipos Stakeholders]</a:t>
            </a:r>
            <a:endParaRPr b="1" sz="95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9837162" y="4111271"/>
            <a:ext cx="2104800" cy="2013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"/>
          <p:cNvSpPr/>
          <p:nvPr/>
        </p:nvSpPr>
        <p:spPr>
          <a:xfrm>
            <a:off x="9924350" y="4138702"/>
            <a:ext cx="1944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APROBADOR PARA ACCESO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9837162" y="4349015"/>
            <a:ext cx="2104800" cy="567000"/>
          </a:xfrm>
          <a:prstGeom prst="rect">
            <a:avLst/>
          </a:prstGeom>
          <a:solidFill>
            <a:srgbClr val="FFFCE6"/>
          </a:solidFill>
          <a:ln cap="flat" cmpd="sng" w="9525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9837162" y="4349015"/>
            <a:ext cx="45600" cy="5670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"/>
          <p:cNvSpPr/>
          <p:nvPr/>
        </p:nvSpPr>
        <p:spPr>
          <a:xfrm>
            <a:off x="9910327" y="4529776"/>
            <a:ext cx="19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[Nombre del Aprobador]</a:t>
            </a:r>
            <a:endParaRPr b="1" sz="100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9914790" y="4368785"/>
            <a:ext cx="1922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[Puesto del Aprobador]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9914840" y="4752839"/>
            <a:ext cx="1922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[Correo del Aprobador]</a:t>
            </a:r>
            <a:endParaRPr sz="75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4032450" y="6620125"/>
            <a:ext cx="8159700" cy="2376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"/>
          <p:cNvSpPr/>
          <p:nvPr/>
        </p:nvSpPr>
        <p:spPr>
          <a:xfrm>
            <a:off x="4174275" y="6644750"/>
            <a:ext cx="5976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b="1"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Data Analytics</a:t>
            </a:r>
            <a:endParaRPr b="1" i="0" sz="900" u="none" cap="none" strike="noStrike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"/>
          <p:cNvPicPr preferRelativeResize="0"/>
          <p:nvPr/>
        </p:nvPicPr>
        <p:blipFill rotWithShape="1">
          <a:blip r:embed="rId3">
            <a:alphaModFix/>
          </a:blip>
          <a:srcRect b="19459" l="0" r="0" t="0"/>
          <a:stretch/>
        </p:blipFill>
        <p:spPr>
          <a:xfrm>
            <a:off x="453263" y="349450"/>
            <a:ext cx="2155799" cy="5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7537" y="278475"/>
            <a:ext cx="663675" cy="67330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"/>
          <p:cNvSpPr/>
          <p:nvPr/>
        </p:nvSpPr>
        <p:spPr>
          <a:xfrm>
            <a:off x="6803425" y="2467264"/>
            <a:ext cx="45600" cy="3243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"/>
          <p:cNvSpPr/>
          <p:nvPr/>
        </p:nvSpPr>
        <p:spPr>
          <a:xfrm>
            <a:off x="6803425" y="3692277"/>
            <a:ext cx="45600" cy="3243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"/>
          <p:cNvSpPr/>
          <p:nvPr/>
        </p:nvSpPr>
        <p:spPr>
          <a:xfrm>
            <a:off x="6803425" y="4912311"/>
            <a:ext cx="45600" cy="3243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"/>
          <p:cNvSpPr/>
          <p:nvPr/>
        </p:nvSpPr>
        <p:spPr>
          <a:xfrm>
            <a:off x="9837150" y="1753345"/>
            <a:ext cx="36600" cy="5121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"/>
          <p:cNvSpPr/>
          <p:nvPr/>
        </p:nvSpPr>
        <p:spPr>
          <a:xfrm>
            <a:off x="9832850" y="2319658"/>
            <a:ext cx="36600" cy="512100"/>
          </a:xfrm>
          <a:prstGeom prst="rect">
            <a:avLst/>
          </a:prstGeom>
          <a:solidFill>
            <a:srgbClr val="C8C8C8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8C8C8"/>
              </a:solidFill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9832850" y="2885970"/>
            <a:ext cx="36600" cy="512100"/>
          </a:xfrm>
          <a:prstGeom prst="rect">
            <a:avLst/>
          </a:prstGeom>
          <a:solidFill>
            <a:srgbClr val="C8C8C8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8C8C8"/>
              </a:solidFill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9841650" y="3452295"/>
            <a:ext cx="36600" cy="512100"/>
          </a:xfrm>
          <a:prstGeom prst="rect">
            <a:avLst/>
          </a:prstGeom>
          <a:solidFill>
            <a:srgbClr val="C8C8C8"/>
          </a:solidFill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8C8C8"/>
              </a:solidFill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9832500" y="4111275"/>
            <a:ext cx="54900" cy="2013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"/>
          <p:cNvSpPr/>
          <p:nvPr/>
        </p:nvSpPr>
        <p:spPr>
          <a:xfrm>
            <a:off x="6622675" y="226855"/>
            <a:ext cx="2999700" cy="87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"/>
          <p:cNvSpPr/>
          <p:nvPr/>
        </p:nvSpPr>
        <p:spPr>
          <a:xfrm>
            <a:off x="6722728" y="588606"/>
            <a:ext cx="285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[Gerencial / Operativo]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6726089" y="897726"/>
            <a:ext cx="285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[Gerencias, Jefaturas, Supervisores, Programadores, Analistas, etc]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9731950" y="208430"/>
            <a:ext cx="2287800" cy="897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"/>
          <p:cNvSpPr/>
          <p:nvPr/>
        </p:nvSpPr>
        <p:spPr>
          <a:xfrm>
            <a:off x="9836938" y="584547"/>
            <a:ext cx="2155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[Suministros / Repuestos /etc.]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9841750" y="897726"/>
            <a:ext cx="2146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800"/>
              <a:buFont typeface="Calibri"/>
              <a:buNone/>
            </a:pPr>
            <a:r>
              <a:rPr lang="en-US" sz="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SISPRO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/>
          <p:nvPr/>
        </p:nvSpPr>
        <p:spPr>
          <a:xfrm>
            <a:off x="4174275" y="218955"/>
            <a:ext cx="2338800" cy="87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"/>
          <p:cNvSpPr/>
          <p:nvPr/>
        </p:nvSpPr>
        <p:spPr>
          <a:xfrm>
            <a:off x="4253526" y="588606"/>
            <a:ext cx="2235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1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[Diario</a:t>
            </a: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Mensual / Lunes y 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"/>
          <p:cNvSpPr/>
          <p:nvPr/>
        </p:nvSpPr>
        <p:spPr>
          <a:xfrm>
            <a:off x="4255488" y="897726"/>
            <a:ext cx="2250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[Hora de actualización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6688600" y="227580"/>
            <a:ext cx="2933700" cy="1980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"/>
          <p:cNvSpPr/>
          <p:nvPr/>
        </p:nvSpPr>
        <p:spPr>
          <a:xfrm>
            <a:off x="292633" y="4844715"/>
            <a:ext cx="3566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7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IR A LA SECCIÓN</a:t>
            </a:r>
            <a:endParaRPr b="0" i="0" sz="9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309150" y="5130120"/>
            <a:ext cx="3484200" cy="32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"/>
          <p:cNvSpPr txBox="1"/>
          <p:nvPr/>
        </p:nvSpPr>
        <p:spPr>
          <a:xfrm>
            <a:off x="922750" y="5126825"/>
            <a:ext cx="2104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[Vista 01]</a:t>
            </a:r>
            <a:endParaRPr sz="9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"/>
          <p:cNvSpPr txBox="1"/>
          <p:nvPr/>
        </p:nvSpPr>
        <p:spPr>
          <a:xfrm>
            <a:off x="405500" y="5126825"/>
            <a:ext cx="419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1"/>
          <p:cNvCxnSpPr/>
          <p:nvPr/>
        </p:nvCxnSpPr>
        <p:spPr>
          <a:xfrm>
            <a:off x="881475" y="5167725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1"/>
          <p:cNvSpPr/>
          <p:nvPr/>
        </p:nvSpPr>
        <p:spPr>
          <a:xfrm rot="5400000">
            <a:off x="3513600" y="5209650"/>
            <a:ext cx="190500" cy="164700"/>
          </a:xfrm>
          <a:prstGeom prst="triangle">
            <a:avLst>
              <a:gd fmla="val 50000" name="adj"/>
            </a:avLst>
          </a:prstGeom>
          <a:solidFill>
            <a:srgbClr val="FFCD11"/>
          </a:solidFill>
          <a:ln cap="flat" cmpd="sng" w="9525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"/>
          <p:cNvSpPr/>
          <p:nvPr/>
        </p:nvSpPr>
        <p:spPr>
          <a:xfrm>
            <a:off x="309150" y="5536845"/>
            <a:ext cx="3484200" cy="32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"/>
          <p:cNvSpPr txBox="1"/>
          <p:nvPr/>
        </p:nvSpPr>
        <p:spPr>
          <a:xfrm>
            <a:off x="922750" y="5533550"/>
            <a:ext cx="2104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[Vista 02]</a:t>
            </a:r>
            <a:endParaRPr sz="9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"/>
          <p:cNvSpPr txBox="1"/>
          <p:nvPr/>
        </p:nvSpPr>
        <p:spPr>
          <a:xfrm>
            <a:off x="405500" y="5533550"/>
            <a:ext cx="419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"/>
          <p:cNvCxnSpPr/>
          <p:nvPr/>
        </p:nvCxnSpPr>
        <p:spPr>
          <a:xfrm>
            <a:off x="881475" y="5574450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1"/>
          <p:cNvSpPr/>
          <p:nvPr/>
        </p:nvSpPr>
        <p:spPr>
          <a:xfrm rot="5400000">
            <a:off x="3513600" y="5616375"/>
            <a:ext cx="190500" cy="164700"/>
          </a:xfrm>
          <a:prstGeom prst="triangle">
            <a:avLst>
              <a:gd fmla="val 50000" name="adj"/>
            </a:avLst>
          </a:prstGeom>
          <a:solidFill>
            <a:srgbClr val="FFCD11"/>
          </a:solidFill>
          <a:ln cap="flat" cmpd="sng" w="9525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"/>
          <p:cNvSpPr/>
          <p:nvPr/>
        </p:nvSpPr>
        <p:spPr>
          <a:xfrm>
            <a:off x="6622675" y="124747"/>
            <a:ext cx="29997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"/>
          <p:cNvSpPr/>
          <p:nvPr/>
        </p:nvSpPr>
        <p:spPr>
          <a:xfrm>
            <a:off x="6746225" y="124105"/>
            <a:ext cx="28347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Calibri"/>
              <a:buNone/>
            </a:pPr>
            <a:r>
              <a:rPr b="1" i="0" lang="en-US" sz="105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NIVEL DE DETALLE</a:t>
            </a:r>
            <a:endParaRPr b="0" i="0" sz="1050" u="none" cap="none" strike="noStrike">
              <a:solidFill>
                <a:srgbClr val="FFCD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"/>
          <p:cNvSpPr/>
          <p:nvPr/>
        </p:nvSpPr>
        <p:spPr>
          <a:xfrm>
            <a:off x="6622675" y="124105"/>
            <a:ext cx="66000" cy="9825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"/>
          <p:cNvSpPr/>
          <p:nvPr/>
        </p:nvSpPr>
        <p:spPr>
          <a:xfrm>
            <a:off x="9719700" y="119305"/>
            <a:ext cx="23001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"/>
          <p:cNvSpPr/>
          <p:nvPr/>
        </p:nvSpPr>
        <p:spPr>
          <a:xfrm>
            <a:off x="9841750" y="117205"/>
            <a:ext cx="21462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Calibri"/>
              <a:buNone/>
            </a:pPr>
            <a:r>
              <a:rPr b="1" lang="en-US" sz="1050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b="0" i="0" sz="1050" u="none" cap="none" strike="noStrike">
              <a:solidFill>
                <a:srgbClr val="FFCD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9719700" y="123830"/>
            <a:ext cx="78300" cy="9825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"/>
          <p:cNvSpPr/>
          <p:nvPr/>
        </p:nvSpPr>
        <p:spPr>
          <a:xfrm>
            <a:off x="4186550" y="124755"/>
            <a:ext cx="2326500" cy="351600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"/>
          <p:cNvSpPr/>
          <p:nvPr/>
        </p:nvSpPr>
        <p:spPr>
          <a:xfrm>
            <a:off x="4289675" y="129330"/>
            <a:ext cx="22029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Calibri"/>
              <a:buNone/>
            </a:pPr>
            <a:r>
              <a:rPr b="1" i="0" lang="en-US" sz="1050" u="none" cap="none" strike="noStrike">
                <a:solidFill>
                  <a:srgbClr val="FFCD11"/>
                </a:solidFill>
                <a:latin typeface="Calibri"/>
                <a:ea typeface="Calibri"/>
                <a:cs typeface="Calibri"/>
                <a:sym typeface="Calibri"/>
              </a:rPr>
              <a:t>FRECUENCIA DE ACTUALIZACIÓN</a:t>
            </a:r>
            <a:endParaRPr b="0" i="0" sz="1050" u="none" cap="none" strike="noStrike">
              <a:solidFill>
                <a:srgbClr val="FFCD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"/>
          <p:cNvSpPr/>
          <p:nvPr/>
        </p:nvSpPr>
        <p:spPr>
          <a:xfrm>
            <a:off x="4174275" y="124755"/>
            <a:ext cx="54900" cy="973800"/>
          </a:xfrm>
          <a:prstGeom prst="rect">
            <a:avLst/>
          </a:prstGeom>
          <a:solidFill>
            <a:srgbClr val="FFCD11"/>
          </a:solidFill>
          <a:ln cap="flat" cmpd="sng" w="12700">
            <a:solidFill>
              <a:srgbClr val="FFC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2026-04-24T13:05:17Z</dcterms:created>
  <dc:creator>PptxGenJS</dc:creator>
</cp:coreProperties>
</file>